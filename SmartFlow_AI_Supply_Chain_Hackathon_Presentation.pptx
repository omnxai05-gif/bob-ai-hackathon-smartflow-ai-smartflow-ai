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82243"/>
          </a:solidFill>
          <a:ln>
            <a:solidFill>
              <a:srgbClr val="182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502920"/>
            <a:ext cx="2468880" cy="640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548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9E0B"/>
                </a:solidFill>
                <a:latin typeface="Aptos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76656"/>
            <a:ext cx="5303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SMARTFLOW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111556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D2"/>
                </a:solidFill>
                <a:latin typeface="Aptos"/>
              </a:rPr>
              <a:t>Supply Chain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749807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Supply Chain Disruption Assistant</a:t>
            </a:r>
            <a:br/>
            <a:r>
              <a:t>&amp; Fleet Utilisation Optimizer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56432"/>
            <a:ext cx="7040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DD6E7"/>
                </a:solidFill>
                <a:latin typeface="Aptos"/>
              </a:rPr>
              <a:t>AI-powered visibility, risk detection and operational recommendations</a:t>
            </a:r>
            <a:br/>
            <a:r>
              <a:t>for resilient and efficient logistics.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590288"/>
            <a:ext cx="1600200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658868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HACKATHON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138928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Team: Om  •  Ayush  •  Krunal  •  Dhruv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532120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D2"/>
                </a:solidFill>
                <a:latin typeface="Aptos"/>
              </a:rPr>
              <a:t>Team Leader: Om Nayak</a:t>
            </a:r>
          </a:p>
        </p:txBody>
      </p:sp>
      <p:pic>
        <p:nvPicPr>
          <p:cNvPr id="14" name="Picture 13" descr="Screenshot 2026-09-15 23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1056539"/>
            <a:ext cx="2651760" cy="1462224"/>
          </a:xfrm>
          <a:prstGeom prst="rect">
            <a:avLst/>
          </a:prstGeom>
        </p:spPr>
      </p:pic>
      <p:pic>
        <p:nvPicPr>
          <p:cNvPr id="15" name="Picture 14" descr="Screenshot 2026-09-15 231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852760"/>
            <a:ext cx="2651760" cy="1353647"/>
          </a:xfrm>
          <a:prstGeom prst="rect">
            <a:avLst/>
          </a:prstGeom>
        </p:spPr>
      </p:pic>
      <p:pic>
        <p:nvPicPr>
          <p:cNvPr id="16" name="Picture 15" descr="Screenshot 2026-09-15 2311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4570459"/>
            <a:ext cx="2651760" cy="13929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Why supply chains need proactive disruption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0172D"/>
                </a:solidFill>
                <a:latin typeface="Aptos"/>
              </a:rPr>
              <a:t>Real-world logistics is highly dynamic. A single disruption can create delays, cost overruns and cargo risk across the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240280"/>
            <a:ext cx="64008" cy="14173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386584"/>
            <a:ext cx="3840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F4444"/>
                </a:solidFill>
                <a:latin typeface="Aptos"/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395728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Disruptions happen suddenly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16352"/>
            <a:ext cx="478231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Weather, port closures, strikes and operational incidents can change the planned route.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224028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2240280"/>
            <a:ext cx="64008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386584"/>
            <a:ext cx="3840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2395728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Limited real-time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816352"/>
            <a:ext cx="478231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Teams need one place to see shipments, fleet status, disruption impact and cold-chain health.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233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23360"/>
            <a:ext cx="6400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169664"/>
            <a:ext cx="3840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9E0B"/>
                </a:solidFill>
                <a:latin typeface="Aptos"/>
              </a:rPr>
              <a:t>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178808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Manual decision-making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599432"/>
            <a:ext cx="478231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Rerouting and vehicle assignment can be slow when every minute matters.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40233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1928" y="4023360"/>
            <a:ext cx="64008" cy="141732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69664"/>
            <a:ext cx="3840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EA5E9"/>
                </a:solidFill>
                <a:latin typeface="Aptos"/>
              </a:rPr>
              <a:t>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178808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Cold-chain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4599432"/>
            <a:ext cx="478231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Temperature-sensitive cargo needs continuous monitoring and immediate excursion alerts.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98932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Our goal: move from reactive firefighting → proactive, AI-assisted control.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One control center for disruption, shipment, fleet and cold-chain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4008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20391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LIVE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04872"/>
            <a:ext cx="203911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Shipments • Fleet</a:t>
            </a:r>
            <a:br/>
            <a:r>
              <a:t>Disruptions • Sensors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39" y="2633472"/>
            <a:ext cx="256033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9000" y="182880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64008" cy="16002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984248"/>
            <a:ext cx="20391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RISK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04872"/>
            <a:ext cx="203911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Identify affected</a:t>
            </a:r>
            <a:br/>
            <a:r>
              <a:t>loads &amp; priorities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2633472"/>
            <a:ext cx="256032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182880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64008" cy="16002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984248"/>
            <a:ext cx="20391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AI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404872"/>
            <a:ext cx="203911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Explain risk • Recommend</a:t>
            </a:r>
            <a:br/>
            <a:r>
              <a:t>action • Compare options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41080" y="2633472"/>
            <a:ext cx="256032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06840" y="182880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828800"/>
            <a:ext cx="64008" cy="16002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1984248"/>
            <a:ext cx="20391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404872"/>
            <a:ext cx="203911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Reroute • Reassign</a:t>
            </a:r>
            <a:br/>
            <a:r>
              <a:t>• Escalate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690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0172D"/>
                </a:solidFill>
                <a:latin typeface="Aptos"/>
              </a:rPr>
              <a:t>Core capabilities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55371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✓  Live disruption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455371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✓  AI alternative route recommendations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08406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✓  Fleet utilisation optimisation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508406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✓  Cold-chain temperature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6144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✓  AI Copilot for operational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56144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✓  Dashboard with risk and ETA visibility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System Architecture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How SmartFlow AI turns operational data into actionable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640080"/>
            <a:ext cx="1074420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640080"/>
            <a:ext cx="2011680" cy="66751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841247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813815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Shipment records  |  Fleet status  |  Port/disruption events  |  Temperature sensors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508760"/>
            <a:ext cx="1074420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1508760"/>
            <a:ext cx="2011680" cy="66751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099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682495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Spring Boot APIs  |  Business rules  |  Risk scoring  |  Data persistence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377440"/>
            <a:ext cx="1074420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" y="2377440"/>
            <a:ext cx="2011680" cy="6675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57860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AI /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551176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Python + ML/LLM API  |  IBM watsonx.ai integration (Phase 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46120"/>
            <a:ext cx="1074420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246120"/>
            <a:ext cx="2011680" cy="667512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4728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DECISION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419856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Disruption impact  |  Alternate route  |  Fleet assignment  |  Cold-chain 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114800"/>
            <a:ext cx="1074420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14800"/>
            <a:ext cx="2011680" cy="66751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1596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WEB CONTROL CENTER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288536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Dashboard  |  Disruptions  |  Shipments  |  Fleet  |  Cold Chain  |  AI Copilot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1307592"/>
            <a:ext cx="0" cy="219456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2176272"/>
            <a:ext cx="0" cy="219456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80760" y="3044952"/>
            <a:ext cx="0" cy="219456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80760" y="3913632"/>
            <a:ext cx="0" cy="219456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8680" y="5166360"/>
            <a:ext cx="10469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Output: faster response • lower disruption impact • better vehicle utilisation • safer cold-chain cargo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1. Live Disruption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Automatically identify which shipments are affected and how urgent the impact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01815"/>
            <a:ext cx="4032503" cy="362927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9-15 2314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9247"/>
            <a:ext cx="3977639" cy="3574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64607" y="1341000"/>
            <a:ext cx="6711696" cy="2475214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 2026-09-15 230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68432"/>
            <a:ext cx="6656832" cy="24203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892040" y="4041648"/>
            <a:ext cx="318211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4041648"/>
            <a:ext cx="64008" cy="14173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7" y="4197096"/>
            <a:ext cx="27980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What the system detects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7" y="4617720"/>
            <a:ext cx="279806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Affected shipments • delay exposure • priority/risk level • disruption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4041648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2752" y="4041648"/>
            <a:ext cx="6400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197096"/>
            <a:ext cx="286207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617720"/>
            <a:ext cx="286207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Mumbai Port heavy rainfall is marked CRITICAL and surfaced as an active disruption.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2. AI Alternative Route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When a route is disrupted, compare safer alternatives instead of waiting for manual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8788" y="1298448"/>
            <a:ext cx="3277343" cy="4764024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9-15 231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20" y="1325880"/>
            <a:ext cx="3222479" cy="4709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54880" y="1463040"/>
            <a:ext cx="68122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7373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72D"/>
                </a:solidFill>
                <a:latin typeface="Aptos"/>
              </a:rPr>
              <a:t>Route comparison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2331720"/>
            <a:ext cx="1325880" cy="310896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2400300"/>
            <a:ext cx="1325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CURRENT 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761488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Delhi → Mumbai Port → Dubai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32004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Aptos"/>
              </a:rPr>
              <a:t>✕  Mumbai Port disrupted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3767328"/>
            <a:ext cx="1691640" cy="310896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3835908"/>
            <a:ext cx="1691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AI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4197096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Delhi → Mundra Port → Dubai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464515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Estimated delay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882896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8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64515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Estimated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82896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522122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Distance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545896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22122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Risk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45896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3. Fleet Utilisation Optimizer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Recommend the best available vehicle for delayed or disrupted 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95707"/>
            <a:ext cx="4855464" cy="1786624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9-15 2314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23139"/>
            <a:ext cx="4800600" cy="1731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96128" y="1404489"/>
            <a:ext cx="5998464" cy="30889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 2026-09-15 231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431921"/>
            <a:ext cx="5943600" cy="30340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23560" y="480060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23560" y="4800600"/>
            <a:ext cx="64008" cy="100584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4956048"/>
            <a:ext cx="23591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Fleet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5376672"/>
            <a:ext cx="23591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Available • In Use • Diverted • Maintenance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4800600"/>
            <a:ext cx="3017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40" y="4800600"/>
            <a:ext cx="64008" cy="10058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0808" y="4956048"/>
            <a:ext cx="263347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Optimisation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5376672"/>
            <a:ext cx="2633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Higher utilisation with fewer idle/overloaded assets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4. Cold-Chain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Protect temperature-sensitive cargo with automatic excursion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22790"/>
            <a:ext cx="3392424" cy="2151914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9-15 231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650222"/>
            <a:ext cx="3337560" cy="2097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40289" y="1271016"/>
            <a:ext cx="6692820" cy="3666744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 2026-09-15 2310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721" y="1298448"/>
            <a:ext cx="6637956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51960" y="5138928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5138928"/>
            <a:ext cx="64008" cy="8686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5294376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Example: SF-0005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5715000"/>
            <a:ext cx="2953512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Required: 2°C–8°C  |  Reading: 10.1°C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5138928"/>
            <a:ext cx="3703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5138928"/>
            <a:ext cx="64008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5294376"/>
            <a:ext cx="331927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AI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5715000"/>
            <a:ext cx="3319272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Flag excursion severity and prioritise intervention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5. SmartFlow AI Control Center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 single operational dashboard gives decision-makers an instant network health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" y="1611937"/>
            <a:ext cx="7690104" cy="4265061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9-15 23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39369"/>
            <a:ext cx="7635240" cy="42101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389888"/>
            <a:ext cx="31089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6916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72D"/>
                </a:solidFill>
                <a:latin typeface="Aptos"/>
              </a:rPr>
              <a:t>Live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17627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203703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Total shipments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743200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Aptos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770632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At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31012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337560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Delayed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877056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90448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Active disruptions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443983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A5E9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4471416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Cold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501091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5038344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Available vehicles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5321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Aptos"/>
              </a:rPr>
              <a:t>Decision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76072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Aptos"/>
              </a:rPr>
              <a:t>See risk → understand cause → choose action.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6. Shipment Risk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Prioritise the loads that need attention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7" y="1563701"/>
            <a:ext cx="8010144" cy="4452973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9-15 2309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1133"/>
            <a:ext cx="7955279" cy="43981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463040"/>
            <a:ext cx="2651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32520" y="1463040"/>
            <a:ext cx="64008" cy="1234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618488"/>
            <a:ext cx="22677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Risk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3688" y="2039112"/>
            <a:ext cx="226771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 simple score makes critical loads easy to prioritise.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907792"/>
            <a:ext cx="2651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32520" y="2907792"/>
            <a:ext cx="64008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3688" y="3063240"/>
            <a:ext cx="22677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Status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3483864"/>
            <a:ext cx="226771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At Risk • Delayed • In Transit are visible in one 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4352544"/>
            <a:ext cx="2651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32520" y="4352544"/>
            <a:ext cx="64008" cy="1234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4507992"/>
            <a:ext cx="22677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Cold-chain flag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4928616"/>
            <a:ext cx="226771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Temperature-sensitive shipments are visually highlighted.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7. Disruption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Centralised incident tracking with severity, location, timing and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3359" y="1298448"/>
            <a:ext cx="10994800" cy="4032503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9-15 2309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91" y="1325880"/>
            <a:ext cx="10939936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50468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Current 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5431536"/>
            <a:ext cx="868680" cy="310896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5500116"/>
            <a:ext cx="868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5477256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Mumbai Port – Heavy Rainfall Closure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5431536"/>
            <a:ext cx="822960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5500116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547725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Dock Workers Partial Strike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8. Fleet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Know what is available, where it is, and how heavily it is being utilised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19894" y="1271016"/>
            <a:ext cx="8921730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9-15 23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326" y="1298448"/>
            <a:ext cx="8866866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9893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Operational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94360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72D"/>
                </a:solidFill>
                <a:latin typeface="Aptos"/>
              </a:rPr>
              <a:t>4 available  •  6 in use  •  1 diverted  •  1 under maintenance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9. AI Copilot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Natural-language access to shipment, disruption, fleet and temperature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" y="1733343"/>
            <a:ext cx="7781544" cy="411368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9-15 2311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60775"/>
            <a:ext cx="7726679" cy="40588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03920" y="1417320"/>
            <a:ext cx="306324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175564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0172D"/>
                </a:solidFill>
                <a:latin typeface="Aptos"/>
              </a:rPr>
              <a:t>Ask questions like: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359152"/>
            <a:ext cx="23957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0F172A"/>
                </a:solidFill>
                <a:latin typeface="Aptos"/>
              </a:rPr>
              <a:t>•  Why is SF-0005 at critical risk?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2980944"/>
            <a:ext cx="23957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0F172A"/>
                </a:solidFill>
                <a:latin typeface="Aptos"/>
              </a:rPr>
              <a:t>•  Suggest alternate routes from Mumbai to Dubai.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3602736"/>
            <a:ext cx="23957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0F172A"/>
                </a:solidFill>
                <a:latin typeface="Aptos"/>
              </a:rPr>
              <a:t>•  Which shipments have temperature excursions?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4224528"/>
            <a:ext cx="23957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0F172A"/>
                </a:solidFill>
                <a:latin typeface="Aptos"/>
              </a:rPr>
              <a:t>•  Recommend fleet assignments for delayed loads.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4846320"/>
            <a:ext cx="23957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0F172A"/>
                </a:solidFill>
                <a:latin typeface="Aptos"/>
              </a:rPr>
              <a:t>•  What is the impact of the Mumbai port closure?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54864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5422392"/>
            <a:ext cx="1143000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2" y="5504688"/>
            <a:ext cx="10789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IBM watsonx.ai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Simple, practical architecture aligned with the implemented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6400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1417320" cy="7132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63624"/>
            <a:ext cx="11704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55448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ptos"/>
              </a:rPr>
              <a:t>HTML • CSS • JavaScript • Bootstrap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67712"/>
            <a:ext cx="6400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267712"/>
            <a:ext cx="1417320" cy="71323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78024"/>
            <a:ext cx="11704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46888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ptos"/>
              </a:rPr>
              <a:t>Spring Boot • REST APIs • Business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82112"/>
            <a:ext cx="6400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182112"/>
            <a:ext cx="1417320" cy="71323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392424"/>
            <a:ext cx="11704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38328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ptos"/>
              </a:rPr>
              <a:t>MySQL / Oracle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400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4096512"/>
            <a:ext cx="1417320" cy="7132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306824"/>
            <a:ext cx="11704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29768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ptos"/>
              </a:rPr>
              <a:t>Python + ML/LLM API • IBM watsonx.ai (Phase 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10912"/>
            <a:ext cx="6400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010912"/>
            <a:ext cx="1417320" cy="713232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221224"/>
            <a:ext cx="11704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Visualisation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21208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ptos"/>
              </a:rPr>
              <a:t>Chart.js • Maps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9208" y="2184670"/>
            <a:ext cx="4215383" cy="2945859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creenshot 2026-09-15 2315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12102"/>
            <a:ext cx="4160520" cy="289099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52360" y="5989320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563EB"/>
                </a:solidFill>
                <a:latin typeface="Aptos"/>
              </a:rPr>
              <a:t>Design principle: keep the stack focused on reliability, speed and demo-ready integration.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Expected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Business value of proactive supply-chain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58191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Faster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7568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64748B"/>
                </a:solidFill>
                <a:latin typeface="Aptos"/>
              </a:rPr>
              <a:t>Detect disruptions early and surface affected shipments immediately.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581912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158191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Lower delay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07568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64748B"/>
                </a:solidFill>
                <a:latin typeface="Aptos"/>
              </a:rPr>
              <a:t>Compare alternate routes before a disruption becomes a major bottleneck.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581912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158191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Better fleet utilisation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07568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64748B"/>
                </a:solidFill>
                <a:latin typeface="Aptos"/>
              </a:rPr>
              <a:t>Use available capacity intelligently instead of leaving assets idle.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639312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63931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Reduced cargo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133087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64748B"/>
                </a:solidFill>
                <a:latin typeface="Aptos"/>
              </a:rPr>
              <a:t>Protect cold-chain shipments through temperature excursion alerts.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639312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363931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One source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4133087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64748B"/>
                </a:solidFill>
                <a:latin typeface="Aptos"/>
              </a:rPr>
              <a:t>Bring shipment, fleet, disruption and sensor data into one control center.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3639312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243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63931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Smarter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4133087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64748B"/>
                </a:solidFill>
                <a:latin typeface="Aptos"/>
              </a:rPr>
              <a:t>Give operators explanations and recommendations, not just raw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Aptos"/>
              </a:rPr>
              <a:t>Result: a control-tower experience that helps teams act before disruptions cascade.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Supply Chain Disruption Assistant &amp; Fleet Utilisation Optimizer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72D"/>
                </a:solidFill>
                <a:latin typeface="Aptos"/>
              </a:rPr>
              <a:t>Roadmap &amp;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914400" cy="502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From a strong operational dashboard to an AI-driven control tower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72D"/>
                </a:solidFill>
                <a:latin typeface="Aptos"/>
              </a:rPr>
              <a:t>Next phases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960120" cy="12344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2057400"/>
            <a:ext cx="1920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0F172A"/>
                </a:solidFill>
                <a:latin typeface="Aptos"/>
              </a:rPr>
              <a:t>Dashboard foundation</a:t>
            </a:r>
            <a:br/>
            <a:r>
              <a:t>Live operational visibility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04487" y="2441448"/>
            <a:ext cx="338329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61688" y="18288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1688" y="1828800"/>
            <a:ext cx="960120" cy="12344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7" y="214884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4688" y="2057400"/>
            <a:ext cx="1920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0F172A"/>
                </a:solidFill>
                <a:latin typeface="Aptos"/>
              </a:rPr>
              <a:t>IBM watsonx.ai Copilot</a:t>
            </a:r>
            <a:br/>
            <a:r>
              <a:t>AI explanations &amp; recommendations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07808" y="2441448"/>
            <a:ext cx="338328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65008" y="18288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5008" y="1828800"/>
            <a:ext cx="960120" cy="12344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14884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057400"/>
            <a:ext cx="1920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0F172A"/>
                </a:solidFill>
                <a:latin typeface="Aptos"/>
              </a:rPr>
              <a:t>AI Fleet Optimiser</a:t>
            </a:r>
            <a:br/>
            <a:r>
              <a:t>Smarter assignments &amp; route choices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79476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72D"/>
                </a:solidFill>
                <a:latin typeface="Aptos"/>
              </a:rPr>
              <a:t>Team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315968"/>
            <a:ext cx="24871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315968"/>
            <a:ext cx="109728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572000"/>
            <a:ext cx="1920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OM NAYAK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95604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Team Leader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287" y="4315968"/>
            <a:ext cx="24871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47287" y="4315968"/>
            <a:ext cx="109728" cy="11430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1607" y="4572000"/>
            <a:ext cx="1920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AYUSH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1607" y="495604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Team Member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7" y="4315968"/>
            <a:ext cx="24871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207" y="4315968"/>
            <a:ext cx="109728" cy="1143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7" y="4572000"/>
            <a:ext cx="1920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KRUNAL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7" y="495604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Team Member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25128" y="4315968"/>
            <a:ext cx="24871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25128" y="4315968"/>
            <a:ext cx="109728" cy="11430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9448" y="4572000"/>
            <a:ext cx="1920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72D"/>
                </a:solidFill>
                <a:latin typeface="Aptos"/>
              </a:rPr>
              <a:t>DHRUV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495604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Team Member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89788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THANK YOU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172D"/>
          </a:solidFill>
          <a:ln>
            <a:solidFill>
              <a:srgbClr val="101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643116"/>
            <a:ext cx="11155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SMARTFLOW AI  •  Team Om • Ayush • Krunal • Dhruv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